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6127360000" y="1254191040000"/>
            <a:ext cx="9197400960000" cy="10033528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Tokenhub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6127360000" y="2257543872000"/>
            <a:ext cx="9197400960000" cy="668901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0066CC"/>
                </a:solidFill>
              </a:defRPr>
            </a:pPr>
            <a:r>
              <a:t>企业AI治理智能平台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27432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127360000" y="3344509440000"/>
            <a:ext cx="9197400960000" cy="418063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888888"/>
                </a:solidFill>
              </a:defRPr>
            </a:pPr>
            <a:r>
              <a:t>商业计划书  |  天使轮  |  ¥500万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127360000" y="4013411328000"/>
            <a:ext cx="9197400960000" cy="418063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</a:defRPr>
            </a:pPr>
            <a:r>
              <a:t>2026年6月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项目概述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901888000" y="1337803776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一句话定位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901888000" y="1755867456000"/>
            <a:ext cx="9197400960000" cy="668901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A1A2E"/>
                </a:solidFill>
              </a:defRPr>
            </a:pPr>
            <a:r>
              <a:t>Tokenhub 是面向企业客户的 AI 治理与 Token 安全运营中台，帮助企业安全、合规、可控地使用大模型，同时降低 30%+ AI 调用成本。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901888000" y="2675607552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产品形态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901888000" y="3093671232000"/>
            <a:ext cx="9197400960000" cy="836127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SaaS + 私有化部署双模式，已接入 8 家模型厂商（DeepSeek/通义千问/豆包/GLM/Kimi/文心/混元等）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提供统一API网关、智能路由、安全过滤、预算管控、合规审计、Agent市场、知识库治理等全栈能力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901888000" y="4097024064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当前阶段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901888000" y="4515087744000"/>
            <a:ext cx="9197400960000" cy="668901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MVP 已完成：15个后端模块、70+ API、14个前端页面，可现场演示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测试覆盖：Go单测30+、前端40+、E2E 6+，全部通过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市场机会与规模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Market Opportunity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市场领域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2024规模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2028预测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全球AI治理市场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$1.8B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$6.2B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28.2%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MarketsandMarkets 2025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中国AI安全市场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¥48亿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¥186亿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IDC China 2025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API管理/网关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$5.4B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$17.3B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Gartner 2025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中国AI平台市场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¥132亿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¥508亿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艾瑞咨询 2025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AI Agent市场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$5.1B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$47.1B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MarketsandMarkets 2025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8901888000" y="4515087744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TAM/SAM/SOM 测算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901888000" y="4933151424000"/>
            <a:ext cx="9197400960000" cy="836127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TAM（总市场）：中国AI治理与安全市场 — ¥186亿（2028E）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SAM（可服务）：中大型企业AI治理平台 — ¥37亿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SOM（可获得）：天使轮目标 — 前3年签约100家客户，ARR ¥5,000万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行业痛点：企业AI落地的6大困境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Industry Pain 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01  模型碎片化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多厂商、多模型、多Key分散管理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02  成本黑洞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Token消耗不透明，预算频繁超支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03  安全风险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数据泄露/提示注入/越权调用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04  Agent失控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自主循环消耗、工具链投毒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05  合规压力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算法备案/等保/数据分类分级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06  计量纠纷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多方对账口径不一致，结算争议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产品架构：三层治理模型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Product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137160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消费侧：企业内部治理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统一接入网关 | 凭证托管 | 场景登记 | 数据分级 | AI FinOps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10515600" cy="13716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平台侧：安全运营中枢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Token生命周期 | 计量账本 | 安全网关 | 智能路由 | 预算熔断 | 知识库安全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供给侧：模型聚合与交付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8厂商9模型 | 统一API | 智能路由 | Agent市场 | 服务目录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核心功能矩阵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Feature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功能亮点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模型方舟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8厂商9模型统一接入 + 智能路由 + 场景推荐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✅ 已完成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安全网关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敏感词14类 + PII脱敏 + 注入检测 + DLP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✅ 已完成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预算管控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5级预算 + 3态熔断 + Agent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✅ 已完成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安全巡检Agent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注入/权限/合规/供应链 4维自动扫描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✅ 已完成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智能体市场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专家/Skills/Connectors/MCP工具生态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✅ 已完成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知识库管理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上传即扫描，安全联动（4维度检测）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✅ 已完成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合规报告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使用台账/安全审计/算法备案 三大报告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✅ 已完成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Token Broker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短期动态凭证 + 即时撤销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📋 V1.0规划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计量账本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不可篡改交易数据底座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📋 V1.0规划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产品亮点 ①：四层安全引擎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Safety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500" b="1">
                <a:solidFill>
                  <a:srgbClr val="0066CC"/>
                </a:solidFill>
              </a:defRPr>
            </a:pPr>
            <a:r>
              <a:t>第1层：敏感词检测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Aho-Corasick 自动机，14类敏感词（涉政/色情/暴力/赌博/违禁品</a:t>
            </a:r>
            <a:br/>
            <a:r>
              <a:t>/诈骗/暴恐/未成年人保护等），毫秒级实时匹配，支持热更新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97480"/>
            <a:ext cx="10515600" cy="1097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500" b="1">
                <a:solidFill>
                  <a:srgbClr val="0066CC"/>
                </a:solidFill>
              </a:defRPr>
            </a:pPr>
            <a:r>
              <a:t>第2层：PII 检测与脱敏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自动识别身份证号、手机号、邮箱、银行卡号</a:t>
            </a:r>
            <a:br/>
            <a:r>
              <a:t>支持脱敏处理（如 138****1234），防止敏感数据泄露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500" b="1">
                <a:solidFill>
                  <a:srgbClr val="0066CC"/>
                </a:solidFill>
              </a:defRPr>
            </a:pPr>
            <a:r>
              <a:t>第3层：提示注入检测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检测 DAN 越狱攻击、系统角色逃逸、Token 泄露</a:t>
            </a:r>
            <a:br/>
            <a:r>
              <a:t>代码注入、数据窃取等高级攻击模式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49240"/>
            <a:ext cx="10515600" cy="10972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500" b="1">
                <a:solidFill>
                  <a:srgbClr val="0066CC"/>
                </a:solidFill>
              </a:defRPr>
            </a:pPr>
            <a:r>
              <a:t>第4层：DLP 安全网关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6条网关规则（敏感词/PII/注入/越权/预算/限流）</a:t>
            </a:r>
            <a:br/>
            <a:r>
              <a:t>统一身份认证 + SSO（LDAP/钉钉/企业微信/OAuth）+ IP白名单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产品亮点 ②：五级预算管控 + Agent Guard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Budget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901888000" y="1254191040000"/>
            <a:ext cx="9197400960000" cy="4598700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五级预算体系：公司 → 部门 → 项目 → 用户 → API Key，每一级独立预算上限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三级熔断器（基于 Redis Lua 原子操作）：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• 使用率 ≥ 80% → throttled（限速至10%）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• 使用率 ≥ 90% → throttled（限速至5%）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• 使用率 ≥ 100% → blocked（24小时硬阻断）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Agent Guard 三项异常检测规则：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• cost_spike：5分钟内花费 &gt; ¥500 → 自动熔断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• loop_detection：1分钟内调用 &gt; 50次 → 触发限速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• same_prompt_loop：相同提示词重复 &gt; 10次 → 阻断15分钟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产品亮点 ③：安全巡检 Agent（行业首创）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Security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901888000" y="1254191040000"/>
            <a:ext cx="9197400960000" cy="4598700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自动对 Agent、Skill、MCP 工具进行四维度安全扫描：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🔍 注入扫描器：检测提示注入、命令注入、硬编码凭据（8条规则）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🔐 权限审计器：API Key 暴露、过度权限、预算过高等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📋 合规检查器：敏感词命中、PII 泄露等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🔗 供应链扫描器：第三方连接器风险、MCP 配置安全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触发机制：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• 资产变更自动扫描（10秒防抖）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• 24小时定时全量扫描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  • 手动一键全量扫描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扫描结果自动同步到知识库条目状态（safe / risky / blocked）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商业模式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Business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价格(年)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目标客户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社区版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10个Key + 基础安全 + 3模型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开发者/初创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专业版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¥9.8万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无限Key + 高级安全 + FinOps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中小企业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企业版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¥29.8万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私有部署 + SSO + 定制合规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政企大客户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旗舰版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¥68万+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专属Agent + 交易平台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运营商/超大企业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8901888000" y="3762573120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附加收入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901888000" y="4180636800000"/>
            <a:ext cx="9197400960000" cy="418063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Agent市场佣金（15-20%）• 安全评估服务（¥5-15万/次）• 定制Agent开发 • API开放平台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52120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客户数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ARR(万元)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毛利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净利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-30%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竞争分析：与竞品对比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Competitive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Tokenhub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硅基流动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天翼云息壤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阿里云百炼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治理+安全中台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API聚合+加速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算力调度+运营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全栈AI中台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8厂商9模型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30+模型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自研为主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自研为主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4层引擎 ★★★★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基础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链路安全 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内容安全 ★★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预算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5级熔断 ★★★★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基础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配额 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配额 ★★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Agent治理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市场+巡检 ★★★★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开发平台 ★★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知识库安全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上传即扫描 ★★★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合规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三大报告 ★★★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基础统计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报表 ★★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基础审计 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差异化优势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901888000" y="1337803776000"/>
            <a:ext cx="9197400960000" cy="2090318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① 唯一全链路覆盖：同时覆盖"供给侧→平台侧→消费侧→智能体侧"，单一竞品仅1-2环节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② 安全深度领先：4层引擎 vs 竞品1-2层，14类敏感词毫秒级检测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③ Agent安全巡检：行业首创对Agent/Skill/MCP四维度自动扫描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④ 厂商中立：不绑定模型厂商，客户自由选择最优组合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⑤ 知识库安全联动：RAG场景安全盲区解决方案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⑥ 产品已完成MVP：可演示，70+ API vs 竞品大多还处于概念阶段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901888000" y="3762573120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竞争壁垒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901888000" y="4180636800000"/>
            <a:ext cx="9197400960000" cy="1672254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技术壁垒：多模型适配器 + Aho-Corasick安全引擎 + Agent巡检系统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数据壁垒：企业AI调用数据沉淀 → 安全规则持续优化 → 厂商切换成本高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生态壁垒：Agent市场 → 开发者生态 → 网络效应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先发优势：目前市场无同类全链路治理产品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发展路线图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Development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103120" cy="2743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2026 Q2</a:t>
            </a:r>
            <a:br/>
            <a:r>
              <a:t>当前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MVP验证期</a:t>
            </a:r>
          </a:p>
          <a:p>
            <a:pPr algn="ctr">
              <a:defRPr sz="1100">
                <a:solidFill>
                  <a:srgbClr val="1A1A2E"/>
                </a:solidFill>
              </a:defRPr>
            </a:pPr>
            <a:r>
              <a:t>产品可演示</a:t>
            </a:r>
            <a:br/>
            <a:r>
              <a:t>种子用户试用</a:t>
            </a:r>
            <a:br/>
            <a:r>
              <a:t>10家试用客户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60320" y="2560320"/>
            <a:ext cx="18288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463040"/>
            <a:ext cx="2103120" cy="2743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2026 Q3-Q4</a:t>
            </a:r>
            <a:br/>
            <a:r>
              <a:t>V1.0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商用版发布</a:t>
            </a:r>
          </a:p>
          <a:p>
            <a:pPr algn="ctr">
              <a:defRPr sz="1100">
                <a:solidFill>
                  <a:srgbClr val="1A1A2E"/>
                </a:solidFill>
              </a:defRPr>
            </a:pPr>
            <a:r>
              <a:t>Token Broker</a:t>
            </a:r>
            <a:br/>
            <a:r>
              <a:t>计量账本</a:t>
            </a:r>
            <a:br/>
            <a:r>
              <a:t>30家付费客户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46320" y="2560320"/>
            <a:ext cx="18288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0" y="1463040"/>
            <a:ext cx="2103120" cy="2743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2027 Q1-Q2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生态扩展</a:t>
            </a:r>
          </a:p>
          <a:p>
            <a:pPr algn="ctr">
              <a:defRPr sz="1100">
                <a:solidFill>
                  <a:srgbClr val="1A1A2E"/>
                </a:solidFill>
              </a:defRPr>
            </a:pPr>
            <a:r>
              <a:t>交易平台</a:t>
            </a:r>
            <a:br/>
            <a:r>
              <a:t>API开放</a:t>
            </a:r>
            <a:br/>
            <a:r>
              <a:t>80家客户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32320" y="2560320"/>
            <a:ext cx="18288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1463040"/>
            <a:ext cx="2103120" cy="2743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2027 Q3-Q4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行业深耕</a:t>
            </a:r>
          </a:p>
          <a:p>
            <a:pPr algn="ctr">
              <a:defRPr sz="1100">
                <a:solidFill>
                  <a:srgbClr val="1A1A2E"/>
                </a:solidFill>
              </a:defRPr>
            </a:pPr>
            <a:r>
              <a:t>金融合规版</a:t>
            </a:r>
            <a:br/>
            <a:r>
              <a:t>政务定制版</a:t>
            </a:r>
            <a:br/>
            <a:r>
              <a:t>200家客户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418320" y="2560320"/>
            <a:ext cx="18288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0" y="1463040"/>
            <a:ext cx="2103120" cy="2743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0066CC"/>
                </a:solidFill>
              </a:defRPr>
            </a:pPr>
            <a:r>
              <a:t>2028+</a:t>
            </a:r>
          </a:p>
          <a:p>
            <a:pPr algn="ctr">
              <a:defRPr sz="1400" b="1">
                <a:solidFill>
                  <a:srgbClr val="1A1A2E"/>
                </a:solidFill>
              </a:defRPr>
            </a:pPr>
            <a:r>
              <a:t>规模化增长</a:t>
            </a:r>
          </a:p>
          <a:p>
            <a:pPr algn="ctr">
              <a:defRPr sz="1100">
                <a:solidFill>
                  <a:srgbClr val="1A1A2E"/>
                </a:solidFill>
              </a:defRPr>
            </a:pPr>
            <a:r>
              <a:t>生态运营商</a:t>
            </a:r>
            <a:br/>
            <a:r>
              <a:t>国际市场</a:t>
            </a:r>
            <a:br/>
            <a:r>
              <a:t>IPO准备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901888000" y="4180636800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KPI 目标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50292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付费客户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¥100万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¥350万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¥1,500万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¥5,000万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团队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50人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技术亮点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Technical Highlights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层次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技术选型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核心能力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后端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Go 1.22 + Gin v1.10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高并发网关，支持万级QPS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React 19 + Next.js 15 + Ant Design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现代化管理后台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安全引擎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Aho-Corasick 自动机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14类敏感词毫秒级匹配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预算控制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Redis Lua 原子操作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三级熔断器毫秒级判断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Agent巡检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事件驱动 + 4并行技能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配置变更10秒自动扫描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数据存储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PostgreSQL + ClickHouse + 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OLTP + OLAP + 缓存三层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Go test + Vitest + Playwright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30+40+6 测试全通过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团队介绍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901888000" y="1170578304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88888"/>
                </a:solidFill>
              </a:defRPr>
            </a:pPr>
            <a:r>
              <a:t>注：以下为模板框架，请自行填充团队成员信息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1005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创始人 / CEO：[姓名]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教育背景：[请填写]</a:t>
            </a:r>
            <a:br/>
            <a:r>
              <a:t>核心经验：[请填写工作经历和成就]</a:t>
            </a:r>
            <a:br/>
            <a:r>
              <a:t>愿景：[请填写创始动机与愿景]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10515600" cy="1005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联合创始人 / CTO：[姓名]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教育背景：[请填写]</a:t>
            </a:r>
            <a:br/>
            <a:r>
              <a:t>技术能力：[请填写全栈/Go/React/安全经验]</a:t>
            </a:r>
            <a:br/>
            <a:r>
              <a:t>过往项目：[请填写主导的技术项目]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515600" cy="1005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产品负责人：[姓名]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教育背景：[请填写]</a:t>
            </a:r>
            <a:br/>
            <a:r>
              <a:t>行业经验：[请填写AI/企业服务产品经验]</a:t>
            </a:r>
            <a:br/>
            <a:r>
              <a:t>TaaS标准参与：[请填写行业标准贡献]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515600" cy="1005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技术顾问：[姓名]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教育背景：[请填写]</a:t>
            </a:r>
            <a:br/>
            <a:r>
              <a:t>行业影响力：[请填写学术/行业背景]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融资需求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Funding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融资轮次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天使轮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融资金额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¥500万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出让股权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10-15%（待协商）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投前估值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¥3,300-5,000万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资金到位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2026年Q3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/>
                      </a:pPr>
                      <a:r>
                        <a:t>Runway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18个月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8901888000" y="2842833024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资金用途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566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金额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产品研发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¥200万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Token Broker / 计量账本 / RAG安全</a:t>
                      </a:r>
                    </a:p>
                    <a:p>
                      <a:pPr algn="ctr">
                        <a:defRPr sz="1100"/>
                      </a:pPr>
                      <a:r>
                        <a:t>+3后端 +2前端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市场拓展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¥150万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首批10家标杆客户</a:t>
                      </a:r>
                    </a:p>
                    <a:p>
                      <a:pPr algn="ctr">
                        <a:defRPr sz="1100"/>
                      </a:pPr>
                      <a:r>
                        <a:t>行业会议 + 销售团队（+2BD）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合规认证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¥75万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等保三级 / ISO27001 / 算法备案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运营储备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¥75万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云服务(18月) / 办公 / 现金流安全垫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投资回报与退出路径</a:t>
            </a:r>
          </a:p>
          <a:p>
            <a:pPr algn="l">
              <a:defRPr sz="1400">
                <a:solidFill>
                  <a:srgbClr val="CCDDFF"/>
                </a:solidFill>
              </a:defRPr>
            </a:pPr>
            <a:r>
              <a:t>Investment Return &amp; Exit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901888000" y="1337803776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回报预期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901888000" y="1755867456000"/>
            <a:ext cx="9197400960000" cy="125419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• 3年后 ARR 目标：¥5,000万，对应估值 ¥3.75-5亿（7.5-10x P/S）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• 天使轮投资人预期回报：3年内 10-15x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• 当前可比公司估值：AI安全类 SaaS 公司 P/S 倍数 8-15x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901888000" y="3344509440000"/>
            <a:ext cx="9197400960000" cy="334450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退出路径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515600" cy="731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A轮融资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ARR ¥1,500万+ → 估值 ¥1.5-2亿，引入VC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515600" cy="731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战略并购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大型云厂商/安全厂商收购，退出倍数 5-10x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731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IPO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科创板/北交所，ARR ¥1.5亿+，估值 ¥15-20亿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6127360000" y="1672254720000"/>
            <a:ext cx="9197400960000" cy="10033528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6127360000" y="2926445760000"/>
            <a:ext cx="9197400960000" cy="6689018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66CC"/>
                </a:solidFill>
              </a:defRPr>
            </a:pPr>
            <a:r>
              <a:t>Tokenhub — 让每一笔 AI 调用都安全、可控、可追溯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27432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127360000" y="4013411328000"/>
            <a:ext cx="9197400960000" cy="418063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</a:defRPr>
            </a:pPr>
            <a:r>
              <a:t>[联系人姓名]  |  [邮箱]  |  [电话]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127360000" y="4431475008000"/>
            <a:ext cx="9197400960000" cy="418063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88888"/>
                </a:solidFill>
              </a:defRPr>
            </a:pPr>
            <a:r>
              <a:t>产品 Demo：[URL]  |  GitHub：[URL]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